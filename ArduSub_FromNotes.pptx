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434840" y="0"/>
            <a:ext cx="182880" cy="6858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36576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2C39A"/>
                </a:solidFill>
              </a:rPr>
              <a:t>UNDERWATER ROBOTICS &amp; AUTONOMOUS NAVIGATION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914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6E8F5"/>
                </a:solidFill>
              </a:rPr>
              <a:t>IIT Mandi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3200400" cy="2743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600200"/>
            <a:ext cx="1371600" cy="38404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62B4C"/>
                </a:solidFill>
              </a:rPr>
              <a:t>PHASE 1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167128"/>
            <a:ext cx="1371600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62B4C"/>
                </a:solidFill>
              </a:rPr>
              <a:t>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62763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Dynamics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1945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MATLAB Model (exOtter / Arjun)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5212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E8F5"/>
                </a:solidFill>
              </a:rPr>
              <a:t>Presented by: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54864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[Your Name]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5943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6E8F5"/>
                </a:solidFill>
              </a:rPr>
              <a:t>[Roll No.]  |  [Branch]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005840"/>
            <a:ext cx="7040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</a:rPr>
              <a:t>Custom Control
Deployment in
ArduSub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41148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02C39A"/>
                </a:solidFill>
              </a:rPr>
              <a:t>Assignment Progress Report — Phases 1 &amp;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46634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6E8F5"/>
                </a:solidFill>
              </a:rPr>
              <a:t>Based on study of exOtter.m (MSS Toolbox)  |  1-DOF Heave Simulation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6E8F5"/>
                </a:solidFill>
              </a:rPr>
              <a:t>IIT Mandi  |  Underwater Robotics and Autonomous Navigation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6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</a:rPr>
              <a:t>PHASE 1  —  DYNAMICS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Marine Craft Motion — Two Ways Engineers Study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5669280" cy="5074920"/>
          </a:xfrm>
          <a:prstGeom prst="rect">
            <a:avLst/>
          </a:prstGeom>
          <a:solidFill>
            <a:srgbClr val="FFFFFF"/>
          </a:solidFill>
          <a:ln w="1524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669280" cy="6400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61288"/>
            <a:ext cx="5669280" cy="548640"/>
          </a:xfrm>
          <a:prstGeom prst="rect">
            <a:avLst/>
          </a:prstGeom>
          <a:solidFill>
            <a:srgbClr val="06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88720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5A82"/>
                </a:solidFill>
              </a:rPr>
              <a:t>1  Maneuvering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920240"/>
            <a:ext cx="118872" cy="118872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8288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2A3F"/>
                </a:solidFill>
              </a:rPr>
              <a:t>How a ship steers and turns when the captain uses the engine/steering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487168"/>
            <a:ext cx="118872" cy="118872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395728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2A3F"/>
                </a:solidFill>
              </a:rPr>
              <a:t>Studied by pretending the ship is in perfectly calm water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054096"/>
            <a:ext cx="118872" cy="118872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962656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2A3F"/>
                </a:solidFill>
              </a:rPr>
              <a:t>Focuses on horizontal movements: forward, sliding sideways, turning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621024"/>
            <a:ext cx="118872" cy="118872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529584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2A3F"/>
                </a:solidFill>
              </a:rPr>
              <a:t>Controlling the actual path the vessel takes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097280"/>
            <a:ext cx="5669280" cy="5074920"/>
          </a:xfrm>
          <a:prstGeom prst="rect">
            <a:avLst/>
          </a:prstGeom>
          <a:solidFill>
            <a:srgbClr val="FFFFFF"/>
          </a:solidFill>
          <a:ln w="1524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097280"/>
            <a:ext cx="5669280" cy="6400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1161288"/>
            <a:ext cx="5669280" cy="548640"/>
          </a:xfrm>
          <a:prstGeom prst="rect">
            <a:avLst/>
          </a:prstGeom>
          <a:solidFill>
            <a:srgbClr val="06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1188720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C7293"/>
                </a:solidFill>
              </a:rPr>
              <a:t>2  Seakeeping</a:t>
            </a:r>
          </a:p>
        </p:txBody>
      </p:sp>
      <p:sp>
        <p:nvSpPr>
          <p:cNvPr id="21" name="Oval 20"/>
          <p:cNvSpPr/>
          <p:nvPr/>
        </p:nvSpPr>
        <p:spPr>
          <a:xfrm>
            <a:off x="6492240" y="1920240"/>
            <a:ext cx="118872" cy="11887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93408" y="182880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2A3F"/>
                </a:solidFill>
              </a:rPr>
              <a:t>How a ship gets tossed around by ocean waves</a:t>
            </a:r>
          </a:p>
        </p:txBody>
      </p:sp>
      <p:sp>
        <p:nvSpPr>
          <p:cNvPr id="23" name="Oval 22"/>
          <p:cNvSpPr/>
          <p:nvPr/>
        </p:nvSpPr>
        <p:spPr>
          <a:xfrm>
            <a:off x="6492240" y="2487168"/>
            <a:ext cx="118872" cy="11887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93408" y="2395728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2A3F"/>
                </a:solidFill>
              </a:rPr>
              <a:t>Assumes the ship is trying to maintain steady speed &amp; straight course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3054096"/>
            <a:ext cx="118872" cy="11887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93408" y="2962656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2A3F"/>
                </a:solidFill>
              </a:rPr>
              <a:t>Studies vertical motions: heave, pitch, roll</a:t>
            </a:r>
          </a:p>
        </p:txBody>
      </p:sp>
      <p:sp>
        <p:nvSpPr>
          <p:cNvPr id="27" name="Oval 26"/>
          <p:cNvSpPr/>
          <p:nvPr/>
        </p:nvSpPr>
        <p:spPr>
          <a:xfrm>
            <a:off x="6492240" y="3621024"/>
            <a:ext cx="118872" cy="11887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93408" y="3529584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2A3F"/>
                </a:solidFill>
              </a:rPr>
              <a:t>Understanding how waves affect the ship's stability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29107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65A82"/>
                </a:solidFill>
              </a:rPr>
              <a:t>These two categories together cover all six degrees of freedom of a vessel.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6E8F5"/>
                </a:solidFill>
              </a:rPr>
              <a:t>IIT Mandi  |  Underwater Robotics and Autonomous Navigation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6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</a:rPr>
              <a:t>PHASE 1  —  DYNAMICS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The Key Equation  —  M·v̇ + C(v)·v + D(v)·v + g(η) = 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777240"/>
          </a:xfrm>
          <a:prstGeom prst="rect">
            <a:avLst/>
          </a:prstGeom>
          <a:solidFill>
            <a:srgbClr val="06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02C39A"/>
                </a:solidFill>
                <a:latin typeface="Cambria"/>
              </a:rPr>
              <a:t>M · v̇   +   C(v) · v   +   D(v) · v   +   g(η)   =   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2157984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2157984" cy="6400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075688"/>
            <a:ext cx="2157984" cy="56692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103120"/>
            <a:ext cx="206654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97480"/>
            <a:ext cx="197510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5A82"/>
                </a:solidFill>
              </a:rPr>
              <a:t>Inertia Matrix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182112"/>
            <a:ext cx="19385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</a:rPr>
              <a:t>M = Mrb + 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639312"/>
            <a:ext cx="19385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</a:rPr>
              <a:t>Rigid body mass + Added mass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096512"/>
            <a:ext cx="19385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</a:rPr>
              <a:t>From your notes: M(Mass Matrix)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97479" y="2011680"/>
            <a:ext cx="2157984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97479" y="2011680"/>
            <a:ext cx="2157984" cy="6400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97479" y="2075688"/>
            <a:ext cx="2157984" cy="56692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199" y="2103120"/>
            <a:ext cx="206654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C(v)·v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2697480"/>
            <a:ext cx="197510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C7293"/>
                </a:solidFill>
              </a:rPr>
              <a:t>Coriolis Forces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07208" y="3182112"/>
            <a:ext cx="19385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</a:rPr>
              <a:t>Rotational coupling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07208" y="3639312"/>
            <a:ext cx="19385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</a:rPr>
              <a:t>C = Crb + 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07208" y="4096512"/>
            <a:ext cx="19385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</a:rPr>
              <a:t>Twisting momentum of the heavy vessel rotating in 3D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37759" y="2011680"/>
            <a:ext cx="2157984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937759" y="2011680"/>
            <a:ext cx="2157984" cy="64008"/>
          </a:xfrm>
          <a:prstGeom prst="rect">
            <a:avLst/>
          </a:prstGeom>
          <a:solidFill>
            <a:srgbClr val="028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37759" y="2075688"/>
            <a:ext cx="2157984" cy="566928"/>
          </a:xfrm>
          <a:prstGeom prst="rect">
            <a:avLst/>
          </a:prstGeom>
          <a:solidFill>
            <a:srgbClr val="028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83479" y="2103120"/>
            <a:ext cx="206654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D(v)·v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199" y="2697480"/>
            <a:ext cx="197510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28F76"/>
                </a:solidFill>
              </a:rPr>
              <a:t>Drag / Damping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47488" y="3182112"/>
            <a:ext cx="19385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</a:rPr>
              <a:t>Water resistance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47488" y="3639312"/>
            <a:ext cx="19385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</a:rPr>
              <a:t>Non-linear at higher speeds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47488" y="4096512"/>
            <a:ext cx="19385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</a:rPr>
              <a:t>D(v)·v — depends on both position and velocity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78040" y="2011680"/>
            <a:ext cx="2157984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178040" y="2011680"/>
            <a:ext cx="2157984" cy="64008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178040" y="2075688"/>
            <a:ext cx="2157984" cy="566928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23759" y="2103120"/>
            <a:ext cx="206654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g(η)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79" y="2697480"/>
            <a:ext cx="197510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C447C"/>
                </a:solidFill>
              </a:rPr>
              <a:t>Gravity &amp; Buoyancy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87768" y="3182112"/>
            <a:ext cx="19385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</a:rPr>
              <a:t>Natural desire to float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87768" y="3639312"/>
            <a:ext cx="19385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</a:rPr>
              <a:t>Net restoring force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87768" y="4096512"/>
            <a:ext cx="19385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</a:rPr>
              <a:t>Weight and distance from the water surface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418319" y="2011680"/>
            <a:ext cx="2157984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6E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18319" y="2011680"/>
            <a:ext cx="2157984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418319" y="2075688"/>
            <a:ext cx="2157984" cy="56692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64040" y="2103120"/>
            <a:ext cx="206654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09759" y="2697480"/>
            <a:ext cx="1975103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A623"/>
                </a:solidFill>
              </a:rPr>
              <a:t>Thruster Force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28047" y="3182112"/>
            <a:ext cx="19385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</a:rPr>
              <a:t>Control input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28047" y="3639312"/>
            <a:ext cx="19385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</a:rPr>
              <a:t>τ = [tau-X, tau-N]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28047" y="4096512"/>
            <a:ext cx="19385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</a:rPr>
              <a:t>Force and torque from propellers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6E8F5"/>
                </a:solidFill>
              </a:rPr>
              <a:t>IIT Mandi  |  Underwater Robotics and Autonomous Navigation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6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</a:rPr>
              <a:t>PHASE 1  —  Q1: Added Mass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What is Added Mass and Why Does It Matter More Underwater?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539496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394960" cy="6400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</a:rPr>
              <a:t>Definition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64208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2A3F"/>
                </a:solidFill>
              </a:rPr>
              <a:t>When a vehicle accelerates through water, it has to drag a surrounding blob of water with it. This extra water resists being moved — making the vehicle feel heavier than it actually is.
From your notes: "Added mass is the KE of the fluid that is forced to move along with the vehicle"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7763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</a:rPr>
              <a:t>From your notes:</a:t>
            </a:r>
          </a:p>
        </p:txBody>
      </p:sp>
      <p:sp>
        <p:nvSpPr>
          <p:cNvPr id="10" name="Oval 9"/>
          <p:cNvSpPr/>
          <p:nvPr/>
        </p:nvSpPr>
        <p:spPr>
          <a:xfrm>
            <a:off x="566928" y="4315968"/>
            <a:ext cx="100584" cy="100584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27939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Physically, the fluid is added to the vehicle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4700016"/>
            <a:ext cx="100584" cy="100584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46634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At low speeds: oscillates, difficult to move</a:t>
            </a:r>
          </a:p>
        </p:txBody>
      </p:sp>
      <p:sp>
        <p:nvSpPr>
          <p:cNvPr id="14" name="Oval 13"/>
          <p:cNvSpPr/>
          <p:nvPr/>
        </p:nvSpPr>
        <p:spPr>
          <a:xfrm>
            <a:off x="566928" y="5084064"/>
            <a:ext cx="100584" cy="100584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504748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At high speed: becomes chaotic, multiplies aggressively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1097280"/>
            <a:ext cx="5833872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89320" y="1097280"/>
            <a:ext cx="5833872" cy="6400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</a:rPr>
              <a:t>Aircraft vs Underwater Vehicle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166420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7293"/>
                </a:solidFill>
              </a:rPr>
              <a:t>Air density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166420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≈ 1.2 kg/m³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02368" y="1664208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4748B"/>
                </a:solidFill>
              </a:rPr>
              <a:t>Added mass negligible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239572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7293"/>
                </a:solidFill>
              </a:rPr>
              <a:t>Water density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239572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≈ 1025 kg/m³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02368" y="2395728"/>
            <a:ext cx="18745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64748B"/>
                </a:solidFill>
              </a:rPr>
              <a:t>Added mass = 30–50% of vehicle mass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3566160"/>
            <a:ext cx="5833872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89320" y="3566160"/>
            <a:ext cx="5833872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3703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Why It Matters for AUVs</a:t>
            </a:r>
          </a:p>
        </p:txBody>
      </p:sp>
      <p:sp>
        <p:nvSpPr>
          <p:cNvPr id="28" name="Oval 27"/>
          <p:cNvSpPr/>
          <p:nvPr/>
        </p:nvSpPr>
        <p:spPr>
          <a:xfrm>
            <a:off x="6172200" y="4160520"/>
            <a:ext cx="100584" cy="100584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412394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Makes vehicle feel much heavier than it is</a:t>
            </a:r>
          </a:p>
        </p:txBody>
      </p:sp>
      <p:sp>
        <p:nvSpPr>
          <p:cNvPr id="30" name="Oval 29"/>
          <p:cNvSpPr/>
          <p:nvPr/>
        </p:nvSpPr>
        <p:spPr>
          <a:xfrm>
            <a:off x="6172200" y="4544568"/>
            <a:ext cx="100584" cy="100584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450799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Added mass must be included in M matrix: M = Mrb + Ma</a:t>
            </a:r>
          </a:p>
        </p:txBody>
      </p:sp>
      <p:sp>
        <p:nvSpPr>
          <p:cNvPr id="32" name="Oval 31"/>
          <p:cNvSpPr/>
          <p:nvPr/>
        </p:nvSpPr>
        <p:spPr>
          <a:xfrm>
            <a:off x="6172200" y="4928616"/>
            <a:ext cx="100584" cy="100584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4892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Bigger mass → harder to move the boat</a:t>
            </a:r>
          </a:p>
        </p:txBody>
      </p:sp>
      <p:sp>
        <p:nvSpPr>
          <p:cNvPr id="34" name="Oval 33"/>
          <p:cNvSpPr/>
          <p:nvPr/>
        </p:nvSpPr>
        <p:spPr>
          <a:xfrm>
            <a:off x="6172200" y="5312664"/>
            <a:ext cx="100584" cy="100584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527608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Smaller mass → easier to accelerate</a:t>
            </a:r>
          </a:p>
        </p:txBody>
      </p:sp>
      <p:sp>
        <p:nvSpPr>
          <p:cNvPr id="36" name="Oval 35"/>
          <p:cNvSpPr/>
          <p:nvPr/>
        </p:nvSpPr>
        <p:spPr>
          <a:xfrm>
            <a:off x="6172200" y="5696712"/>
            <a:ext cx="100584" cy="100584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566013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From notes: A33 = 5.0 kg for heave direction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6E8F5"/>
                </a:solidFill>
              </a:rPr>
              <a:t>IIT Mandi  |  Underwater Robotics and Autonomous Navigation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6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</a:rPr>
              <a:t>PHASE 1  —  Q2 &amp; Q3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Nonlinear Damping &amp; The 6 Degrees of Freedom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548640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486400" cy="6400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07008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</a:rPr>
              <a:t>Q2  Why is Damping Nonlinear at Higher Speeds?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1051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7293"/>
                </a:solidFill>
              </a:rPr>
              <a:t>Linear drag (low speed):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2A3F"/>
                </a:solidFill>
              </a:rPr>
              <a:t>F_drag = D · v      (proportional to velocity)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06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6167"/>
                </a:solidFill>
              </a:rPr>
              <a:t>Nonlinear drag (high speed):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4436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2A3F"/>
                </a:solidFill>
              </a:rPr>
              <a:t>F_drag = D · v²     (proportional to velocity squared)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29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7293"/>
                </a:solidFill>
              </a:rPr>
              <a:t>Your notes explanation: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822191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Damping becomes non-linear because at higher speeds, the fluid flow transitions from smooth (laminar) to turbulent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29767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Drag grows much faster — the vehicle loses energy to the fluid rapidly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77316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At high speed: the fluid is highly dynamic and produces chaotic drag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248656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Linear model is only a reasonable approximation at small/slow motions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1097280"/>
            <a:ext cx="5788152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1097280"/>
            <a:ext cx="5788152" cy="6400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20700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</a:rPr>
              <a:t>Q3  The 6 Degrees of Freedom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1719072"/>
            <a:ext cx="5486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1719072"/>
            <a:ext cx="64008" cy="47548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178308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</a:rPr>
              <a:t>Surge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79792" y="17830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Forward / Backward (X)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2267712"/>
            <a:ext cx="5486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72200" y="2267712"/>
            <a:ext cx="64008" cy="47548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7648" y="233172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</a:rPr>
              <a:t>Sway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79792" y="23317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Left / Right (Y)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2816352"/>
            <a:ext cx="5486400" cy="475488"/>
          </a:xfrm>
          <a:prstGeom prst="rect">
            <a:avLst/>
          </a:prstGeom>
          <a:solidFill>
            <a:srgbClr val="062B4C"/>
          </a:solidFill>
          <a:ln w="1524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72200" y="2816352"/>
            <a:ext cx="64008" cy="47548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27648" y="288036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</a:rPr>
              <a:t>Heave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9792" y="28803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Up / Down — DEPTH (Z)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288036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KEY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3364991"/>
            <a:ext cx="5486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72200" y="3364991"/>
            <a:ext cx="64008" cy="47548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27648" y="3428999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</a:rPr>
              <a:t>Roll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79792" y="3428999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Rotation about 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3913631"/>
            <a:ext cx="5486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72200" y="3913631"/>
            <a:ext cx="64008" cy="47548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27648" y="3977639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C7293"/>
                </a:solidFill>
              </a:rPr>
              <a:t>Pitch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79792" y="3977639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Rotation about 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72200" y="4462272"/>
            <a:ext cx="5486400" cy="475488"/>
          </a:xfrm>
          <a:prstGeom prst="rect">
            <a:avLst/>
          </a:prstGeom>
          <a:solidFill>
            <a:srgbClr val="062B4C"/>
          </a:solidFill>
          <a:ln w="1524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72200" y="4462272"/>
            <a:ext cx="64008" cy="4754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27648" y="452628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</a:rPr>
              <a:t>Yaw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79792" y="45262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Rotation about Z — HEADING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81360" y="4526280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A623"/>
                </a:solidFill>
              </a:rPr>
              <a:t>KEY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5998464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5A623"/>
                </a:solidFill>
              </a:rPr>
              <a:t>Heave (depth) and Yaw (heading) are the two most important DOF for AUV control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6E8F5"/>
                </a:solidFill>
              </a:rPr>
              <a:t>IIT Mandi  |  Underwater Robotics and Autonomous Navigation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6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PHASE 2  —  MATLAB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What I Studied: exOtter.m from MSS Toolbox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557784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57784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0700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exOtter.m — The Reference Model I Studied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1907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From my notes (Phase 2, Page 1):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2130552"/>
            <a:ext cx="100584" cy="100584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Ex-1 = exOtter.m  →  Simulates a boat (Otter USV) using MSS Toolbox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2606040"/>
            <a:ext cx="100584" cy="100584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57860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Input: Propeller forces (tau)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" y="3081528"/>
            <a:ext cx="100584" cy="100584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05409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Output: Motion (velocity, position)</a:t>
            </a:r>
          </a:p>
        </p:txBody>
      </p:sp>
      <p:sp>
        <p:nvSpPr>
          <p:cNvPr id="15" name="Oval 14"/>
          <p:cNvSpPr/>
          <p:nvPr/>
        </p:nvSpPr>
        <p:spPr>
          <a:xfrm>
            <a:off x="566928" y="3557016"/>
            <a:ext cx="100584" cy="100584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52958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Simulation runs at 50 Hz  →  h = 1/50 = 0.02 sec time step</a:t>
            </a:r>
          </a:p>
        </p:txBody>
      </p:sp>
      <p:sp>
        <p:nvSpPr>
          <p:cNvPr id="17" name="Oval 16"/>
          <p:cNvSpPr/>
          <p:nvPr/>
        </p:nvSpPr>
        <p:spPr>
          <a:xfrm>
            <a:off x="566928" y="4032504"/>
            <a:ext cx="100584" cy="100584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00507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Uses EKF (Extended Kalman Filter) for state estimation</a:t>
            </a:r>
          </a:p>
        </p:txBody>
      </p:sp>
      <p:sp>
        <p:nvSpPr>
          <p:cNvPr id="19" name="Oval 18"/>
          <p:cNvSpPr/>
          <p:nvPr/>
        </p:nvSpPr>
        <p:spPr>
          <a:xfrm>
            <a:off x="566928" y="4507992"/>
            <a:ext cx="100584" cy="100584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480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States: u, v, w (translational velocities), p, q, r (angular velocities)</a:t>
            </a:r>
          </a:p>
        </p:txBody>
      </p:sp>
      <p:sp>
        <p:nvSpPr>
          <p:cNvPr id="21" name="Oval 20"/>
          <p:cNvSpPr/>
          <p:nvPr/>
        </p:nvSpPr>
        <p:spPr>
          <a:xfrm>
            <a:off x="566928" y="4983480"/>
            <a:ext cx="100584" cy="100584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95604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phi, theta → angular positions  |  psi → heading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1097280"/>
            <a:ext cx="578815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80" y="1097280"/>
            <a:ext cx="5788152" cy="6400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120700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</a:rPr>
              <a:t>Key Variables in exOtter.m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16916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65A82"/>
                </a:solidFill>
              </a:rPr>
              <a:t>x = [u v w p q r x y z phi theta psi]'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07568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B_prop  →  Input (propeller) matrix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459736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Binv = inv(B_prop)  →  Control allocation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2843784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M(6,6)  →  Mass matrix element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3227832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EKF_5states  →  Estimates [x_N, v_N, U, chi, omega]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3566160"/>
            <a:ext cx="5788152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3566160"/>
            <a:ext cx="5788152" cy="6400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3675887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</a:rPr>
              <a:t>What Binv Means (from your notes)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133087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2A3F"/>
                </a:solidFill>
              </a:rPr>
              <a:t>Binv = inv(B_prop)  →  action(C)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455371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This is the mathematical model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4937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We use this to calculate required force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532180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Instead of requiring forces → base → required propeller speed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5705856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Binv links the problem: force needed → motor command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6E8F5"/>
                </a:solidFill>
              </a:rPr>
              <a:t>IIT Mandi  |  Underwater Robotics and Autonomous Navigation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6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PHASE 2  —  MATLAB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PID Controller — Pole Placement Method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685800"/>
          </a:xfrm>
          <a:prstGeom prst="rect">
            <a:avLst/>
          </a:prstGeom>
          <a:solidFill>
            <a:srgbClr val="06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2C39A"/>
                </a:solidFill>
                <a:latin typeface="Consolas"/>
              </a:rPr>
              <a:t>tau_N = (T/K)·a_d + (1/K)·omega_d  −  Kp·[ ssa(chi_hat − chi_d) + Td·(omega_hat − omega_d) + (1/Ti)·z ]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920240"/>
            <a:ext cx="365760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920240"/>
            <a:ext cx="3657600" cy="6400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984248"/>
            <a:ext cx="3657600" cy="457200"/>
          </a:xfrm>
          <a:prstGeom prst="rect">
            <a:avLst/>
          </a:prstGeom>
          <a:solidFill>
            <a:srgbClr val="06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201168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</a:rPr>
              <a:t>P — Proportional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2514600"/>
            <a:ext cx="3438144" cy="548640"/>
          </a:xfrm>
          <a:prstGeom prst="rect">
            <a:avLst/>
          </a:prstGeom>
          <a:solidFill>
            <a:srgbClr val="E0F0FF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54203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2A3F"/>
                </a:solidFill>
              </a:rPr>
              <a:t>Kp = M(6,6) × wn²</a:t>
            </a:r>
          </a:p>
        </p:txBody>
      </p:sp>
      <p:sp>
        <p:nvSpPr>
          <p:cNvPr id="12" name="Oval 11"/>
          <p:cNvSpPr/>
          <p:nvPr/>
        </p:nvSpPr>
        <p:spPr>
          <a:xfrm>
            <a:off x="530352" y="3154680"/>
            <a:ext cx="91440" cy="914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3127248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Controls how strongly the system reacts to error (chi_hat - chi_d)</a:t>
            </a:r>
          </a:p>
        </p:txBody>
      </p:sp>
      <p:sp>
        <p:nvSpPr>
          <p:cNvPr id="14" name="Oval 13"/>
          <p:cNvSpPr/>
          <p:nvPr/>
        </p:nvSpPr>
        <p:spPr>
          <a:xfrm>
            <a:off x="530352" y="3611880"/>
            <a:ext cx="91440" cy="914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3584448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Bigger Kp → reacts faster but may overshoot</a:t>
            </a:r>
          </a:p>
        </p:txBody>
      </p:sp>
      <p:sp>
        <p:nvSpPr>
          <p:cNvPr id="16" name="Oval 15"/>
          <p:cNvSpPr/>
          <p:nvPr/>
        </p:nvSpPr>
        <p:spPr>
          <a:xfrm>
            <a:off x="530352" y="4069080"/>
            <a:ext cx="91440" cy="914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4041648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Your notes: Kp controls how hard to push</a:t>
            </a:r>
          </a:p>
        </p:txBody>
      </p:sp>
      <p:sp>
        <p:nvSpPr>
          <p:cNvPr id="18" name="Oval 17"/>
          <p:cNvSpPr/>
          <p:nvPr/>
        </p:nvSpPr>
        <p:spPr>
          <a:xfrm>
            <a:off x="530352" y="4526280"/>
            <a:ext cx="91440" cy="914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4498848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Big error → big correction immediately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96512" y="1920240"/>
            <a:ext cx="365760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096512" y="1920240"/>
            <a:ext cx="3657600" cy="6400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96512" y="1984248"/>
            <a:ext cx="3657600" cy="457200"/>
          </a:xfrm>
          <a:prstGeom prst="rect">
            <a:avLst/>
          </a:prstGeom>
          <a:solidFill>
            <a:srgbClr val="06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06240" y="201168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</a:rPr>
              <a:t>D — Derivative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2514600"/>
            <a:ext cx="3438144" cy="548640"/>
          </a:xfrm>
          <a:prstGeom prst="rect">
            <a:avLst/>
          </a:prstGeom>
          <a:solidFill>
            <a:srgbClr val="E0F0FF"/>
          </a:solidFill>
          <a:ln w="635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79392" y="254203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2A3F"/>
                </a:solidFill>
              </a:rPr>
              <a:t>Kd = M(6,6) × (2×zeta×wn − 1/T)
Td = Kd / Kp</a:t>
            </a:r>
          </a:p>
        </p:txBody>
      </p:sp>
      <p:sp>
        <p:nvSpPr>
          <p:cNvPr id="26" name="Oval 25"/>
          <p:cNvSpPr/>
          <p:nvPr/>
        </p:nvSpPr>
        <p:spPr>
          <a:xfrm>
            <a:off x="4261104" y="3154680"/>
            <a:ext cx="91440" cy="914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25696" y="3127248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Adds damping — slows down if approaching too fast</a:t>
            </a:r>
          </a:p>
        </p:txBody>
      </p:sp>
      <p:sp>
        <p:nvSpPr>
          <p:cNvPr id="28" name="Oval 27"/>
          <p:cNvSpPr/>
          <p:nvPr/>
        </p:nvSpPr>
        <p:spPr>
          <a:xfrm>
            <a:off x="4261104" y="3611880"/>
            <a:ext cx="91440" cy="914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25696" y="3584448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Looks at rate of change of error (omega_hat − omega_d)</a:t>
            </a:r>
          </a:p>
        </p:txBody>
      </p:sp>
      <p:sp>
        <p:nvSpPr>
          <p:cNvPr id="30" name="Oval 29"/>
          <p:cNvSpPr/>
          <p:nvPr/>
        </p:nvSpPr>
        <p:spPr>
          <a:xfrm>
            <a:off x="4261104" y="4069080"/>
            <a:ext cx="91440" cy="914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25696" y="4041648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Your notes: Kd adds slowing</a:t>
            </a:r>
          </a:p>
        </p:txBody>
      </p:sp>
      <p:sp>
        <p:nvSpPr>
          <p:cNvPr id="32" name="Oval 31"/>
          <p:cNvSpPr/>
          <p:nvPr/>
        </p:nvSpPr>
        <p:spPr>
          <a:xfrm>
            <a:off x="4261104" y="4526280"/>
            <a:ext cx="91440" cy="914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25696" y="4498848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Prevents overshoot and oscillation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27264" y="1920240"/>
            <a:ext cx="365760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F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827264" y="1920240"/>
            <a:ext cx="3657600" cy="64008"/>
          </a:xfrm>
          <a:prstGeom prst="rect">
            <a:avLst/>
          </a:prstGeom>
          <a:solidFill>
            <a:srgbClr val="028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827264" y="1984248"/>
            <a:ext cx="3657600" cy="457200"/>
          </a:xfrm>
          <a:prstGeom prst="rect">
            <a:avLst/>
          </a:prstGeom>
          <a:solidFill>
            <a:srgbClr val="06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36992" y="201168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F76"/>
                </a:solidFill>
              </a:rPr>
              <a:t>I — Integral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36992" y="2514600"/>
            <a:ext cx="3438144" cy="548640"/>
          </a:xfrm>
          <a:prstGeom prst="rect">
            <a:avLst/>
          </a:prstGeom>
          <a:solidFill>
            <a:srgbClr val="E0F0FF"/>
          </a:solidFill>
          <a:ln w="6350">
            <a:solidFill>
              <a:srgbClr val="028F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10144" y="2542032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2A3F"/>
                </a:solidFill>
              </a:rPr>
              <a:t>Ti = 10 / wn
z = z + h × ssa(chi_hat − chi_d)</a:t>
            </a:r>
          </a:p>
        </p:txBody>
      </p:sp>
      <p:sp>
        <p:nvSpPr>
          <p:cNvPr id="40" name="Oval 39"/>
          <p:cNvSpPr/>
          <p:nvPr/>
        </p:nvSpPr>
        <p:spPr>
          <a:xfrm>
            <a:off x="7991856" y="3154680"/>
            <a:ext cx="91440" cy="91440"/>
          </a:xfrm>
          <a:prstGeom prst="ellipse">
            <a:avLst/>
          </a:prstGeom>
          <a:solidFill>
            <a:srgbClr val="028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56448" y="3127248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Fixes small long-term errors that keep happening</a:t>
            </a:r>
          </a:p>
        </p:txBody>
      </p:sp>
      <p:sp>
        <p:nvSpPr>
          <p:cNvPr id="42" name="Oval 41"/>
          <p:cNvSpPr/>
          <p:nvPr/>
        </p:nvSpPr>
        <p:spPr>
          <a:xfrm>
            <a:off x="7991856" y="3611880"/>
            <a:ext cx="91440" cy="91440"/>
          </a:xfrm>
          <a:prstGeom prst="ellipse">
            <a:avLst/>
          </a:prstGeom>
          <a:solidFill>
            <a:srgbClr val="028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56448" y="3584448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From your notes: 'Integral fixes steady-state error'</a:t>
            </a:r>
          </a:p>
        </p:txBody>
      </p:sp>
      <p:sp>
        <p:nvSpPr>
          <p:cNvPr id="44" name="Oval 43"/>
          <p:cNvSpPr/>
          <p:nvPr/>
        </p:nvSpPr>
        <p:spPr>
          <a:xfrm>
            <a:off x="7991856" y="4069080"/>
            <a:ext cx="91440" cy="91440"/>
          </a:xfrm>
          <a:prstGeom prst="ellipse">
            <a:avLst/>
          </a:prstGeom>
          <a:solidFill>
            <a:srgbClr val="028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56448" y="4041648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Small errors accumulate → z builds up → fixes it</a:t>
            </a:r>
          </a:p>
        </p:txBody>
      </p:sp>
      <p:sp>
        <p:nvSpPr>
          <p:cNvPr id="46" name="Oval 45"/>
          <p:cNvSpPr/>
          <p:nvPr/>
        </p:nvSpPr>
        <p:spPr>
          <a:xfrm>
            <a:off x="7991856" y="4526280"/>
            <a:ext cx="91440" cy="91440"/>
          </a:xfrm>
          <a:prstGeom prst="ellipse">
            <a:avLst/>
          </a:prstGeom>
          <a:solidFill>
            <a:srgbClr val="028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56448" y="4498848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z = 0 at start, then it stores accumulated errors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6E8F5"/>
                </a:solidFill>
              </a:rPr>
              <a:t>IIT Mandi  |  Underwater Robotics and Autonomous Navigation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6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PHASE 2  —  MATLAB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Reference Model, Tuning &amp; Propeller Dynamics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548640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486400" cy="6400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07008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</a:rPr>
              <a:t>Reference Model — Why We Need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5120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Without a reference model → Sudden jump → difficult to control
Reference model is like a filter — smooth input → smooth desired motion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23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</a:rPr>
              <a:t>Parameters (from your notes):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1635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</a:rPr>
              <a:t>wn_d = 1.0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0048" y="281635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Natural frequency of reference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20040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</a:rPr>
              <a:t>zeta_d = 1.0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70048" y="320040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Damping — Controls oscillation smoothness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58444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</a:rPr>
              <a:t>r_max = deg2rad(10)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0048" y="358444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Maximum turning rate limit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96849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</a:rPr>
              <a:t>chi_d =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0048" y="396849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Desired course direction (starts at 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35254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</a:rPr>
              <a:t>omega_d = 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70048" y="4352544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Desired course rate (starts at 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7365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</a:rPr>
              <a:t>a_d = 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70048" y="473659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Desired course acceleration (starts at 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212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7293"/>
                </a:solidFill>
              </a:rPr>
              <a:t>Zeta (damping):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5321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0F2A3F"/>
                </a:solidFill>
              </a:rPr>
              <a:t>zeta &lt; 1 → oscillates  |  zeta = 1 → perfectly smooth  |  zeta &gt; 1 → very close, no oscillation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1097280"/>
            <a:ext cx="5788152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35040" y="1097280"/>
            <a:ext cx="5788152" cy="6400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120700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</a:rPr>
              <a:t>Propeller Dynamics (from your notes)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169164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7293"/>
                </a:solidFill>
              </a:rPr>
              <a:t>Tn = 0.1 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16916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Propeller time constant — how fast propeller responds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207568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7293"/>
                </a:solidFill>
              </a:rPr>
              <a:t>n = [0 0]'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207568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Initial propeller speeds: left=0, right=0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245973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7293"/>
                </a:solidFill>
              </a:rPr>
              <a:t>n_c = sign(u)×sqrt(|u|)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245973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Desired propeller speed from control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284378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7293"/>
                </a:solidFill>
              </a:rPr>
              <a:t>n updated by Euler: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284378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n = n − h/Tn × (n − n_c)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3611880"/>
            <a:ext cx="5788152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35040" y="3611880"/>
            <a:ext cx="5788152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372160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Load Condition &amp; Ocean Current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4206240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mp = 25 kg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85632" y="42062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Payload mass (max 45 kg) — extra weight on boat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4590288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rp = [0.05 0 -0.35]'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85632" y="459028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Location of payload on the boat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4974336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V_c = 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85632" y="497433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Current speed — set to 0 (no current)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5358383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beta_c = 30° (π/180)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85632" y="5358383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Current direction — 30 degrees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5742431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Understanding: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85632" y="5742431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This action defines extra weight on the boat and the environment that can affect its motion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6E8F5"/>
                </a:solidFill>
              </a:rPr>
              <a:t>IIT Mandi  |  Underwater Robotics and Autonomous Navigation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6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PHASE 2  —  MATLAB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State Estimation: EKF + simdata 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557784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577840" cy="6400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0700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</a:rPr>
              <a:t>EKF — Extended Kalman Filter (State Estimation)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7293"/>
                </a:solidFill>
              </a:rPr>
              <a:t>From your notes: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2084831"/>
            <a:ext cx="100584" cy="10058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057400"/>
            <a:ext cx="5029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EKF estimates the state — it does NOT control the boat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2523744"/>
            <a:ext cx="100584" cy="10058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496312"/>
            <a:ext cx="5029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Uses GPS sensor data to estimate where the boat is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" y="2962656"/>
            <a:ext cx="100584" cy="10058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935224"/>
            <a:ext cx="5029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x_hat = [x_N, v_N, U, chi, omega]'  →  5 states</a:t>
            </a:r>
          </a:p>
        </p:txBody>
      </p:sp>
      <p:sp>
        <p:nvSpPr>
          <p:cNvPr id="15" name="Oval 14"/>
          <p:cNvSpPr/>
          <p:nvPr/>
        </p:nvSpPr>
        <p:spPr>
          <a:xfrm>
            <a:off x="566928" y="3401568"/>
            <a:ext cx="100584" cy="10058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374136"/>
            <a:ext cx="5029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1→ estimated x position (North)</a:t>
            </a:r>
          </a:p>
        </p:txBody>
      </p:sp>
      <p:sp>
        <p:nvSpPr>
          <p:cNvPr id="17" name="Oval 16"/>
          <p:cNvSpPr/>
          <p:nvPr/>
        </p:nvSpPr>
        <p:spPr>
          <a:xfrm>
            <a:off x="566928" y="3840479"/>
            <a:ext cx="100584" cy="10058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813048"/>
            <a:ext cx="5029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2→ estimated y position (v_N)</a:t>
            </a:r>
          </a:p>
        </p:txBody>
      </p:sp>
      <p:sp>
        <p:nvSpPr>
          <p:cNvPr id="19" name="Oval 18"/>
          <p:cNvSpPr/>
          <p:nvPr/>
        </p:nvSpPr>
        <p:spPr>
          <a:xfrm>
            <a:off x="566928" y="4279392"/>
            <a:ext cx="100584" cy="10058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251960"/>
            <a:ext cx="5029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3→ estimated speed (U)</a:t>
            </a:r>
          </a:p>
        </p:txBody>
      </p:sp>
      <p:sp>
        <p:nvSpPr>
          <p:cNvPr id="21" name="Oval 20"/>
          <p:cNvSpPr/>
          <p:nvPr/>
        </p:nvSpPr>
        <p:spPr>
          <a:xfrm>
            <a:off x="566928" y="4718304"/>
            <a:ext cx="100584" cy="10058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690872"/>
            <a:ext cx="5029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4→ estimated course angle (chi)</a:t>
            </a:r>
          </a:p>
        </p:txBody>
      </p:sp>
      <p:sp>
        <p:nvSpPr>
          <p:cNvPr id="23" name="Oval 22"/>
          <p:cNvSpPr/>
          <p:nvPr/>
        </p:nvSpPr>
        <p:spPr>
          <a:xfrm>
            <a:off x="566928" y="5157216"/>
            <a:ext cx="100584" cy="10058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129783"/>
            <a:ext cx="5029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5→ estimated turning rate (omega)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8978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C7293"/>
                </a:solidFill>
              </a:rPr>
              <a:t>Covariance matrices from your notes: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23620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</a:rPr>
              <a:t>Qd = 500 × diag([1000 1000])  |  Rd = 0.00000001 × diag([1,1])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60" y="1097280"/>
            <a:ext cx="5833872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80760" y="1097280"/>
            <a:ext cx="5833872" cy="6400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120700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</a:rPr>
              <a:t>simdata Table — How Data is Stored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167335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A3F"/>
                </a:solidFill>
              </a:rPr>
              <a:t>simdata = zeros(length(t), 19)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2057400"/>
            <a:ext cx="5577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From your notes: 'Big purposeful data saves all important values into a table'
Row 1 = first time step data  |  Row 2 = time step 2 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274320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</a:rPr>
              <a:t>Cols 1–12: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82127" y="2743200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x = [u,v,w,p,q,r,x,y,z,phi,theta,psi]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312724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</a:rPr>
              <a:t>Cols 13–17: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82127" y="312724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x_hat from EKF (5 states)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351129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</a:rPr>
              <a:t>Cols 18–19: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82127" y="3511296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n = [n1, n2] propeller speeds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80760" y="3703320"/>
            <a:ext cx="5833872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F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80760" y="3703320"/>
            <a:ext cx="5833872" cy="64008"/>
          </a:xfrm>
          <a:prstGeom prst="rect">
            <a:avLst/>
          </a:prstGeom>
          <a:solidFill>
            <a:srgbClr val="028F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381304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8F76"/>
                </a:solidFill>
              </a:rPr>
              <a:t>RK4 — Runge-Kutta 4th Order Integration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427939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F2A3F"/>
                </a:solidFill>
              </a:rPr>
              <a:t>x = rk4(@otter, h, x, n, mp, rp, V_c, beta_c)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4709160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2A3F"/>
                </a:solidFill>
              </a:rPr>
              <a:t>RK4 is a numerical method to solve differential equations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5056632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2A3F"/>
                </a:solidFill>
              </a:rPr>
              <a:t>Better accuracy than Euler (4 slope estimates per step)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5404104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2A3F"/>
                </a:solidFill>
              </a:rPr>
              <a:t>From your notes: 'It is almost mini-calculations using the estimate motion using 4 directions'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5751576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2A3F"/>
                </a:solidFill>
              </a:rPr>
              <a:t>Used for main vehicle dynamics — Euler used for simpler updates (z, n)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6E8F5"/>
                </a:solidFill>
              </a:rPr>
              <a:t>IIT Mandi  |  Underwater Robotics and Autonomous Navigation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6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PHASE 2  —  MY OWN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heave_1DOF.m  —  My 1-DOF Heave Simulation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74552" cy="685800"/>
          </a:xfrm>
          <a:prstGeom prst="rect">
            <a:avLst/>
          </a:prstGeom>
          <a:solidFill>
            <a:srgbClr val="06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02C39A"/>
                </a:solidFill>
                <a:latin typeface="Cambria"/>
              </a:rPr>
              <a:t>(m + A₃₃) · ẇ   +   D₃₃ · w   =   τ_heave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920240"/>
            <a:ext cx="502920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920240"/>
            <a:ext cx="502920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My Model 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9631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m = 11.5 kg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07792" y="249631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Vehicle mass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8036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A33 = 5.0 kg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7792" y="288036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Added mass in heave direction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6440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D33 = 25.0 kg/s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07792" y="326440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Linear damping coefficient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64845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M_heave = m + A33 = 16.5 kg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7792" y="364845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Total effective inertia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03250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h = 0.01 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07792" y="4032504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Time step (Euler integration)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16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T_final = 20 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7792" y="441655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Simulation duration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8006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t_step = 2 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07792" y="480060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Force switches ON at 2 seconds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18464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F_step = 10 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7792" y="518464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F2A3F"/>
                </a:solidFill>
              </a:rPr>
              <a:t>Step thruster force applied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77840" y="1920240"/>
            <a:ext cx="6245352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77840" y="1920240"/>
            <a:ext cx="6245352" cy="6400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0" y="2029968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C7293"/>
                </a:solidFill>
              </a:rPr>
              <a:t>The Euler Loop — Heart of the Simulation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15000" y="2496312"/>
            <a:ext cx="5943600" cy="914400"/>
          </a:xfrm>
          <a:prstGeom prst="rect">
            <a:avLst/>
          </a:prstGeom>
          <a:solidFill>
            <a:srgbClr val="F0F7FF"/>
          </a:solidFill>
          <a:ln w="635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52160" y="2542032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7293"/>
                </a:solidFill>
              </a:rPr>
              <a:t>Step 1 — Acceleration: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52160" y="288036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2A3F"/>
                </a:solidFill>
              </a:rPr>
              <a:t>w_dot = (tau_heave − D33×w) / M_heave
Newton's 2nd law: a = F_net / mass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15000" y="3502152"/>
            <a:ext cx="5943600" cy="914400"/>
          </a:xfrm>
          <a:prstGeom prst="rect">
            <a:avLst/>
          </a:prstGeom>
          <a:solidFill>
            <a:srgbClr val="F0F7FF"/>
          </a:solidFill>
          <a:ln w="635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52160" y="3547872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7293"/>
                </a:solidFill>
              </a:rPr>
              <a:t>Step 2 — Rate of depth: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388620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2A3F"/>
                </a:solidFill>
              </a:rPr>
              <a:t>z_dot = w(i)
Depth changes at same rate as velocity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15000" y="4507992"/>
            <a:ext cx="5943600" cy="914400"/>
          </a:xfrm>
          <a:prstGeom prst="rect">
            <a:avLst/>
          </a:prstGeom>
          <a:solidFill>
            <a:srgbClr val="F0F7FF"/>
          </a:solidFill>
          <a:ln w="635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52160" y="4553712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7293"/>
                </a:solidFill>
              </a:rPr>
              <a:t>Step 3 — Euler update: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52160" y="489204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2A3F"/>
                </a:solidFill>
              </a:rPr>
              <a:t>w(i+1) = w(i) + h × w_dot
z(i+1) = z(i) + h × z_dot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15000" y="5513832"/>
            <a:ext cx="5943600" cy="914400"/>
          </a:xfrm>
          <a:prstGeom prst="rect">
            <a:avLst/>
          </a:prstGeom>
          <a:solidFill>
            <a:srgbClr val="F0F7FF"/>
          </a:solidFill>
          <a:ln w="635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52160" y="5559552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C7293"/>
                </a:solidFill>
              </a:rPr>
              <a:t>Step 4 — Analytical check: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52160" y="5897880"/>
            <a:ext cx="5760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2A3F"/>
                </a:solidFill>
              </a:rPr>
              <a:t>w_ss = tau / D33 = 10/25 = 0.4 m/s
Terminal velocity — confirms simulation correct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6E8F5"/>
                </a:solidFill>
              </a:rPr>
              <a:t>IIT Mandi  |  Underwater Robotics and Autonomous Navigation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6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PHASE 2  — 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Simulation Output — 3 Plots from heave_1DOF.m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3749039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3749039" cy="502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115568"/>
            <a:ext cx="3566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Plot 1
Depth vs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" y="1673352"/>
            <a:ext cx="3529583" cy="2377440"/>
          </a:xfrm>
          <a:prstGeom prst="rect">
            <a:avLst/>
          </a:prstGeom>
          <a:solidFill>
            <a:srgbClr val="E4F2FF"/>
          </a:solidFill>
          <a:ln w="635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2423160"/>
            <a:ext cx="33467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64748B"/>
                </a:solidFill>
              </a:rPr>
              <a:t>[INSERT MATLAB PLOT 1 HERE
— depth (m) vs time (s)]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1828800"/>
            <a:ext cx="334670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65A82"/>
                </a:solidFill>
              </a:rPr>
              <a:t>Screenshot from MATLAB here</a:t>
            </a:r>
          </a:p>
        </p:txBody>
      </p:sp>
      <p:sp>
        <p:nvSpPr>
          <p:cNvPr id="11" name="Oval 10"/>
          <p:cNvSpPr/>
          <p:nvPr/>
        </p:nvSpPr>
        <p:spPr>
          <a:xfrm>
            <a:off x="484632" y="4151376"/>
            <a:ext cx="91440" cy="914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" y="4114800"/>
            <a:ext cx="3291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2A3F"/>
                </a:solidFill>
              </a:rPr>
              <a:t>Depth = 0 m for first 2 s</a:t>
            </a:r>
          </a:p>
        </p:txBody>
      </p:sp>
      <p:sp>
        <p:nvSpPr>
          <p:cNvPr id="13" name="Oval 12"/>
          <p:cNvSpPr/>
          <p:nvPr/>
        </p:nvSpPr>
        <p:spPr>
          <a:xfrm>
            <a:off x="484632" y="4498848"/>
            <a:ext cx="91440" cy="914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4462272"/>
            <a:ext cx="3291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2A3F"/>
                </a:solidFill>
              </a:rPr>
              <a:t>After t=2s: depth increases continuously</a:t>
            </a:r>
          </a:p>
        </p:txBody>
      </p:sp>
      <p:sp>
        <p:nvSpPr>
          <p:cNvPr id="15" name="Oval 14"/>
          <p:cNvSpPr/>
          <p:nvPr/>
        </p:nvSpPr>
        <p:spPr>
          <a:xfrm>
            <a:off x="484632" y="4846320"/>
            <a:ext cx="91440" cy="914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" y="4809744"/>
            <a:ext cx="3291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2A3F"/>
                </a:solidFill>
              </a:rPr>
              <a:t>No controller → depth grows without bound</a:t>
            </a:r>
          </a:p>
        </p:txBody>
      </p:sp>
      <p:sp>
        <p:nvSpPr>
          <p:cNvPr id="17" name="Oval 16"/>
          <p:cNvSpPr/>
          <p:nvPr/>
        </p:nvSpPr>
        <p:spPr>
          <a:xfrm>
            <a:off x="484632" y="5193792"/>
            <a:ext cx="91440" cy="914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5157216"/>
            <a:ext cx="3291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2A3F"/>
                </a:solidFill>
              </a:rPr>
              <a:t>This motivates Phase 3: PID control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60519" y="1097280"/>
            <a:ext cx="3749039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60519" y="1097280"/>
            <a:ext cx="3749039" cy="5029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70247" y="1115568"/>
            <a:ext cx="3566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Plot 2
Heave Velocity vs Time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70247" y="1673352"/>
            <a:ext cx="3529583" cy="2377440"/>
          </a:xfrm>
          <a:prstGeom prst="rect">
            <a:avLst/>
          </a:prstGeom>
          <a:solidFill>
            <a:srgbClr val="E4F2FF"/>
          </a:solidFill>
          <a:ln w="635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61687" y="2423160"/>
            <a:ext cx="33467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64748B"/>
                </a:solidFill>
              </a:rPr>
              <a:t>[INSERT MATLAB PLOT 2 HERE
— velocity (m/s) vs time (s)]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61687" y="1828800"/>
            <a:ext cx="334670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7293"/>
                </a:solidFill>
              </a:rPr>
              <a:t>Screenshot from MATLAB here</a:t>
            </a:r>
          </a:p>
        </p:txBody>
      </p:sp>
      <p:sp>
        <p:nvSpPr>
          <p:cNvPr id="25" name="Oval 24"/>
          <p:cNvSpPr/>
          <p:nvPr/>
        </p:nvSpPr>
        <p:spPr>
          <a:xfrm>
            <a:off x="4325111" y="4151376"/>
            <a:ext cx="91440" cy="914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9703" y="4114800"/>
            <a:ext cx="3291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2A3F"/>
                </a:solidFill>
              </a:rPr>
              <a:t>Starts at 0 m/s at rest</a:t>
            </a:r>
          </a:p>
        </p:txBody>
      </p:sp>
      <p:sp>
        <p:nvSpPr>
          <p:cNvPr id="27" name="Oval 26"/>
          <p:cNvSpPr/>
          <p:nvPr/>
        </p:nvSpPr>
        <p:spPr>
          <a:xfrm>
            <a:off x="4325111" y="4498848"/>
            <a:ext cx="91440" cy="914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9703" y="4462272"/>
            <a:ext cx="3291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2A3F"/>
                </a:solidFill>
              </a:rPr>
              <a:t>Rises rapidly after force applied at t=2s</a:t>
            </a:r>
          </a:p>
        </p:txBody>
      </p:sp>
      <p:sp>
        <p:nvSpPr>
          <p:cNvPr id="29" name="Oval 28"/>
          <p:cNvSpPr/>
          <p:nvPr/>
        </p:nvSpPr>
        <p:spPr>
          <a:xfrm>
            <a:off x="4325111" y="4846320"/>
            <a:ext cx="91440" cy="914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9703" y="4809744"/>
            <a:ext cx="3291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2A3F"/>
                </a:solidFill>
              </a:rPr>
              <a:t>Levels off at terminal: w = 0.4 m/s</a:t>
            </a:r>
          </a:p>
        </p:txBody>
      </p:sp>
      <p:sp>
        <p:nvSpPr>
          <p:cNvPr id="31" name="Oval 30"/>
          <p:cNvSpPr/>
          <p:nvPr/>
        </p:nvSpPr>
        <p:spPr>
          <a:xfrm>
            <a:off x="4325111" y="5193792"/>
            <a:ext cx="91440" cy="914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9703" y="5157216"/>
            <a:ext cx="3291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2A3F"/>
                </a:solidFill>
              </a:rPr>
              <a:t>w_ss = tau/D33 = 10/25 = 0.4 m/s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00999" y="1097280"/>
            <a:ext cx="3749039" cy="5166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00999" y="1097280"/>
            <a:ext cx="3749039" cy="5029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10727" y="1115568"/>
            <a:ext cx="35661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Plot 3
Thruster Force vs Time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10727" y="1673352"/>
            <a:ext cx="3529583" cy="2377440"/>
          </a:xfrm>
          <a:prstGeom prst="rect">
            <a:avLst/>
          </a:prstGeom>
          <a:solidFill>
            <a:srgbClr val="E4F2FF"/>
          </a:solidFill>
          <a:ln w="63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02167" y="2423160"/>
            <a:ext cx="334670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64748B"/>
                </a:solidFill>
              </a:rPr>
              <a:t>[INSERT MATLAB PLOT 3 HERE
— force (N) vs time (s)]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02167" y="1828800"/>
            <a:ext cx="334670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A623"/>
                </a:solidFill>
              </a:rPr>
              <a:t>Screenshot from MATLAB here</a:t>
            </a:r>
          </a:p>
        </p:txBody>
      </p:sp>
      <p:sp>
        <p:nvSpPr>
          <p:cNvPr id="39" name="Oval 38"/>
          <p:cNvSpPr/>
          <p:nvPr/>
        </p:nvSpPr>
        <p:spPr>
          <a:xfrm>
            <a:off x="8165591" y="4151376"/>
            <a:ext cx="91440" cy="9144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30183" y="4114800"/>
            <a:ext cx="3291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2A3F"/>
                </a:solidFill>
              </a:rPr>
              <a:t>Zero force for t &lt; 2 s</a:t>
            </a:r>
          </a:p>
        </p:txBody>
      </p:sp>
      <p:sp>
        <p:nvSpPr>
          <p:cNvPr id="41" name="Oval 40"/>
          <p:cNvSpPr/>
          <p:nvPr/>
        </p:nvSpPr>
        <p:spPr>
          <a:xfrm>
            <a:off x="8165591" y="4498848"/>
            <a:ext cx="91440" cy="9144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30183" y="4462272"/>
            <a:ext cx="3291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2A3F"/>
                </a:solidFill>
              </a:rPr>
              <a:t>Step jump to 10 N at t = 2 s</a:t>
            </a:r>
          </a:p>
        </p:txBody>
      </p:sp>
      <p:sp>
        <p:nvSpPr>
          <p:cNvPr id="43" name="Oval 42"/>
          <p:cNvSpPr/>
          <p:nvPr/>
        </p:nvSpPr>
        <p:spPr>
          <a:xfrm>
            <a:off x="8165591" y="4846320"/>
            <a:ext cx="91440" cy="9144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30183" y="4809744"/>
            <a:ext cx="3291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2A3F"/>
                </a:solidFill>
              </a:rPr>
              <a:t>Constant — this is open-loop</a:t>
            </a:r>
          </a:p>
        </p:txBody>
      </p:sp>
      <p:sp>
        <p:nvSpPr>
          <p:cNvPr id="45" name="Oval 44"/>
          <p:cNvSpPr/>
          <p:nvPr/>
        </p:nvSpPr>
        <p:spPr>
          <a:xfrm>
            <a:off x="8165591" y="5193792"/>
            <a:ext cx="91440" cy="9144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30183" y="5157216"/>
            <a:ext cx="3291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F2A3F"/>
                </a:solidFill>
              </a:rPr>
              <a:t>Confirms step input applied correctly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651052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D6E8F5"/>
                </a:solidFill>
              </a:rPr>
              <a:t>IIT Mandi  |  Underwater Robotics and Autonomous Navigation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Summary &amp; What I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2C39A"/>
                </a:solidFill>
              </a:rPr>
              <a:t>Phases 1 &amp; 2 — Based on my own study notes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715000" cy="3886200"/>
          </a:xfrm>
          <a:prstGeom prst="rect">
            <a:avLst/>
          </a:prstGeom>
          <a:solidFill>
            <a:srgbClr val="07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715000" cy="6400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7276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</a:rPr>
              <a:t>PHASE 1 — Dynamics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29968"/>
            <a:ext cx="5440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Studied two ways engineers analyze ships: Maneuvering vs Seakeeping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05456"/>
            <a:ext cx="5440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Understood the full 6-DOF equation: M·v̇ + C(v)·v + D(v)·v + g(η) = 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80944"/>
            <a:ext cx="5440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Added Mass: vehicle drags water → feels heavier (A33 = 30-50% of mass)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56432"/>
            <a:ext cx="5440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Nonlinear damping: turbulent flow at high speed → drag grows as v²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931920"/>
            <a:ext cx="5440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6 DOF identified: Heave (depth) and Yaw (heading) are most critical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07408"/>
            <a:ext cx="5440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Understood M matrix, Coriolis, Drag, Gravity/Buoyancy, and 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463040"/>
            <a:ext cx="5715000" cy="3886200"/>
          </a:xfrm>
          <a:prstGeom prst="rect">
            <a:avLst/>
          </a:prstGeom>
          <a:solidFill>
            <a:srgbClr val="07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463040"/>
            <a:ext cx="571500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57276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PHASE 2 — MATLAB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029968"/>
            <a:ext cx="5440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Studied exOtter.m from MSS Toolbox in detail (EKF, PID, reference model)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505456"/>
            <a:ext cx="5440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Understood EKF: estimates [x_N, v_N, U, chi, omega] from GPS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980944"/>
            <a:ext cx="5440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Understood PID pole placement: Kp, Kd, Ti, reference model wn_d=1, zeta_d=1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456432"/>
            <a:ext cx="5440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Built my own heave_1DOF.m — 1-DOF depth simulation from scratch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931920"/>
            <a:ext cx="5440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Applied 10N step force: vehicle sinks, velocity → terminal 0.4 m/s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407408"/>
            <a:ext cx="5440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Verified: w_ss = tau/D33 = 10/25 = 0.4 m/s (analytical = simulated)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486400"/>
            <a:ext cx="11430000" cy="804672"/>
          </a:xfrm>
          <a:prstGeom prst="rect">
            <a:avLst/>
          </a:prstGeom>
          <a:solidFill>
            <a:srgbClr val="0239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5778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</a:rPr>
              <a:t>Coming Next: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77440" y="5559552"/>
            <a:ext cx="2103120" cy="65836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50592" y="5577840"/>
            <a:ext cx="1965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Phase 3: PID
Depth Controller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0" y="5559552"/>
            <a:ext cx="2103120" cy="65836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36592" y="5577840"/>
            <a:ext cx="1965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Phase 4: ArduSub
Codebase Map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49440" y="5559552"/>
            <a:ext cx="2103120" cy="65836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22592" y="5577840"/>
            <a:ext cx="1965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Phase 5: Custom
UserCode.cpp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35440" y="5559552"/>
            <a:ext cx="2103120" cy="65836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08592" y="5577840"/>
            <a:ext cx="19659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Phase 6: SITL
Build &amp; Test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382512"/>
            <a:ext cx="11274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6E8F5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